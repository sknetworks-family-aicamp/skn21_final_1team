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367663-0FB2-2A43-F5CB-687CE2BC1679}" v="2" dt="2026-03-23T08:24:03.0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6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6949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5943600" y="-457200"/>
            <a:ext cx="4114800" cy="6057900"/>
          </a:xfrm>
          <a:prstGeom prst="rect">
            <a:avLst/>
          </a:prstGeom>
          <a:solidFill>
            <a:srgbClr val="2D35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6858000" y="-914400"/>
            <a:ext cx="3657600" cy="6972300"/>
          </a:xfrm>
          <a:prstGeom prst="rect">
            <a:avLst/>
          </a:prstGeom>
          <a:solidFill>
            <a:srgbClr val="7C5CFC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Bookalpie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 화면설계서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북마크 관리 및 Notebook 동기화 익스텐션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457200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SKN21-Final Team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2026.3.23</a:t>
            </a:r>
            <a:endParaRPr lang="en-US" sz="1400" dirty="0"/>
          </a:p>
          <a:p>
            <a:r>
              <a:rPr lang="en-US" sz="1400">
                <a:solidFill>
                  <a:srgbClr val="9BA3BF"/>
                </a:solidFill>
                <a:latin typeface="Calibri"/>
                <a:ea typeface="Calibri"/>
                <a:cs typeface="Calibri"/>
              </a:rPr>
              <a:t>Writer: </a:t>
            </a:r>
            <a:r>
              <a:rPr lang="ko-KR" altLang="en-US" sz="1400">
                <a:solidFill>
                  <a:srgbClr val="9BA3BF"/>
                </a:solidFill>
                <a:latin typeface="Calibri"/>
                <a:ea typeface="Calibri" pitchFamily="34" charset="-122"/>
                <a:cs typeface="Calibri"/>
              </a:rPr>
              <a:t>이명준</a:t>
            </a:r>
            <a:r>
              <a:rPr lang="en-US" sz="1400">
                <a:solidFill>
                  <a:srgbClr val="9BA3BF"/>
                </a:solidFill>
                <a:latin typeface="Calibri"/>
                <a:ea typeface="Calibri"/>
                <a:cs typeface="Calibri"/>
              </a:rPr>
              <a:t>(PM) </a:t>
            </a:r>
            <a:r>
              <a:rPr lang="ko-KR" altLang="en-US" sz="1400">
                <a:solidFill>
                  <a:srgbClr val="9BA3BF"/>
                </a:solidFill>
                <a:latin typeface="Calibri"/>
                <a:ea typeface="Calibri" pitchFamily="34" charset="-122"/>
                <a:cs typeface="Calibri"/>
              </a:rPr>
              <a:t>박내은</a:t>
            </a:r>
            <a:r>
              <a:rPr lang="en-US" sz="1400" dirty="0">
                <a:solidFill>
                  <a:srgbClr val="9BA3B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altLang="en-US" sz="1400">
                <a:solidFill>
                  <a:srgbClr val="9BA3BF"/>
                </a:solidFill>
                <a:latin typeface="Calibri"/>
                <a:ea typeface="Calibri" pitchFamily="34" charset="-122"/>
                <a:cs typeface="Calibri"/>
              </a:rPr>
              <a:t>우재현</a:t>
            </a:r>
            <a:r>
              <a:rPr lang="en-US" sz="1400" dirty="0">
                <a:solidFill>
                  <a:srgbClr val="9BA3B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altLang="en-US" sz="1400">
                <a:solidFill>
                  <a:srgbClr val="9BA3BF"/>
                </a:solidFill>
                <a:latin typeface="Calibri"/>
                <a:ea typeface="Calibri" pitchFamily="34" charset="-122"/>
                <a:cs typeface="Calibri"/>
              </a:rPr>
              <a:t>최자슈아주원</a:t>
            </a:r>
            <a:endParaRPr lang="en-US" sz="1400" dirty="0">
              <a:ea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8952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2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화면 목록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36576"/>
          </a:xfrm>
          <a:prstGeom prst="rect">
            <a:avLst/>
          </a:prstGeom>
          <a:solidFill>
            <a:srgbClr val="7C5CFC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7772400" cy="314553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화면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화면명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요구사항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페이지 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SC-02-001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메인 팝업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SC-02-003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북마크 트리 (폴더/URL/편집)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SC-02-004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액션바 (기본/선택 모드)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SC-02-005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폴더 생성 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SC-02-006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탭 저장 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SC-02-008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빠른저장 설정 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SC-02-010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동기화 (Settings)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SC-02-011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삭제 확인 드로어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4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SKN21-Final Team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화면명 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팝업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경로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663440" cy="3977640"/>
          </a:xfrm>
          <a:prstGeom prst="rect">
            <a:avLst/>
          </a:prstGeom>
          <a:solidFill>
            <a:srgbClr val="F8F9F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img_dark_ma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14400"/>
            <a:ext cx="466344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868680"/>
            <a:ext cx="3749040" cy="256032"/>
          </a:xfrm>
          <a:prstGeom prst="rect">
            <a:avLst/>
          </a:prstGeom>
          <a:solidFill>
            <a:srgbClr val="2D35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02936" y="1170432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9" name="Text 6"/>
          <p:cNvSpPr/>
          <p:nvPr/>
        </p:nvSpPr>
        <p:spPr>
          <a:xfrm>
            <a:off x="5202936" y="11704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413248" y="116128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헤더 영역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458968" y="1325880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"Bookalpie" 로고, 그라데이션, 48px 높이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5202936" y="1453896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3" name="Text 10"/>
          <p:cNvSpPr/>
          <p:nvPr/>
        </p:nvSpPr>
        <p:spPr>
          <a:xfrm>
            <a:off x="5202936" y="145389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413248" y="144475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테마 토글 / 동기화 / 닫기 버튼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458968" y="1609344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다크↔라이트 전환, Settings 패널 열기, 팝업 닫기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5202936" y="1737360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7" name="Text 14"/>
          <p:cNvSpPr/>
          <p:nvPr/>
        </p:nvSpPr>
        <p:spPr>
          <a:xfrm>
            <a:off x="5202936" y="173736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413248" y="172821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검색바 영역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458968" y="1892808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실시간 검색, 전체 접기/펼치기 버튼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5202936" y="2020824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1" name="Text 18"/>
          <p:cNvSpPr/>
          <p:nvPr/>
        </p:nvSpPr>
        <p:spPr>
          <a:xfrm>
            <a:off x="5202936" y="202082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5413248" y="201168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북마크 트리 영역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458968" y="217627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폴더/URL 계층 구조, 스크롤 가능 (최대 420px)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5202936" y="2304288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5" name="Text 22"/>
          <p:cNvSpPr/>
          <p:nvPr/>
        </p:nvSpPr>
        <p:spPr>
          <a:xfrm>
            <a:off x="5202936" y="23042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5413248" y="229514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액션바 영역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458968" y="2459736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선택/삭제, 빠른저장, 현재탭, 폴더, URL 추가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5166360" y="3291840"/>
            <a:ext cx="3749040" cy="201168"/>
          </a:xfrm>
          <a:prstGeom prst="rect">
            <a:avLst/>
          </a:prstGeom>
          <a:solidFill>
            <a:srgbClr val="E85D5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Point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221224" y="3520440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팝업 사이즈 / 테마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257800" y="3666744"/>
            <a:ext cx="3584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고정: 400×580px, 폼 열림 시 트리 축소 (420→220px)</a:t>
            </a:r>
            <a:endParaRPr lang="en-US" sz="620" dirty="0"/>
          </a:p>
        </p:txBody>
      </p:sp>
      <p:sp>
        <p:nvSpPr>
          <p:cNvPr id="31" name="Text 28"/>
          <p:cNvSpPr/>
          <p:nvPr/>
        </p:nvSpPr>
        <p:spPr>
          <a:xfrm>
            <a:off x="5257800" y="3758184"/>
            <a:ext cx="3584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다크 테마 기본, localStorage에 저장</a:t>
            </a:r>
            <a:endParaRPr lang="en-US" sz="620" dirty="0"/>
          </a:p>
        </p:txBody>
      </p:sp>
      <p:sp>
        <p:nvSpPr>
          <p:cNvPr id="32" name="Text 29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SKN21-Final Team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화면명 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북마크 트리 - 폴더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경로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&gt; 북마크 트리 &gt; 폴더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663440" cy="3977640"/>
          </a:xfrm>
          <a:prstGeom prst="rect">
            <a:avLst/>
          </a:prstGeom>
          <a:solidFill>
            <a:srgbClr val="F8F9F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img_folder_hov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14400"/>
            <a:ext cx="466344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868680"/>
            <a:ext cx="3749040" cy="256032"/>
          </a:xfrm>
          <a:prstGeom prst="rect">
            <a:avLst/>
          </a:prstGeom>
          <a:solidFill>
            <a:srgbClr val="2D35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02936" y="1170432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9" name="Text 6"/>
          <p:cNvSpPr/>
          <p:nvPr/>
        </p:nvSpPr>
        <p:spPr>
          <a:xfrm>
            <a:off x="5202936" y="11704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413248" y="116128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드래그 핸들 / 펼침 화살표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458968" y="1325880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GripVertical, ChevronRight/Down, 호버 시 표시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5202936" y="1453896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3" name="Text 10"/>
          <p:cNvSpPr/>
          <p:nvPr/>
        </p:nvSpPr>
        <p:spPr>
          <a:xfrm>
            <a:off x="5202936" y="145389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413248" y="144475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동기화 체크박스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458968" y="1609344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Notebook에 동기화할 폴더 선택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5202936" y="1737360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7" name="Text 14"/>
          <p:cNvSpPr/>
          <p:nvPr/>
        </p:nvSpPr>
        <p:spPr>
          <a:xfrm>
            <a:off x="5202936" y="173736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413248" y="172821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아이콘 / 이름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458968" y="1892808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Folder/FolderOpen(노란색), 클릭:펼침, 더블클릭:편집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5202936" y="2020824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1" name="Text 18"/>
          <p:cNvSpPr/>
          <p:nvPr/>
        </p:nvSpPr>
        <p:spPr>
          <a:xfrm>
            <a:off x="5202936" y="202082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5413248" y="201168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 항목 수 뱃지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458968" y="217627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(URL 수)+(폴더 수), 호버 시 숨김→액션 버튼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5202936" y="2304288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5" name="Text 22"/>
          <p:cNvSpPr/>
          <p:nvPr/>
        </p:nvSpPr>
        <p:spPr>
          <a:xfrm>
            <a:off x="5202936" y="23042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5413248" y="229514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호버 액션: + / ✏ / 🗑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458968" y="2459736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URL 추가, 이름 변경, 삭제 확인 드로어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5166360" y="3291840"/>
            <a:ext cx="3749040" cy="201168"/>
          </a:xfrm>
          <a:prstGeom prst="rect">
            <a:avLst/>
          </a:prstGeom>
          <a:solidFill>
            <a:srgbClr val="E85D5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Point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221224" y="3520440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편집 / 드래그 앤 드롭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257800" y="3666744"/>
            <a:ext cx="3584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더블클릭/✏ 편집, Enter 저장, Escape 취소</a:t>
            </a:r>
            <a:endParaRPr lang="en-US" sz="620" dirty="0"/>
          </a:p>
        </p:txBody>
      </p:sp>
      <p:sp>
        <p:nvSpPr>
          <p:cNvPr id="31" name="Text 28"/>
          <p:cNvSpPr/>
          <p:nvPr/>
        </p:nvSpPr>
        <p:spPr>
          <a:xfrm>
            <a:off x="5257800" y="3758184"/>
            <a:ext cx="3584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@dnd-kit, 순환 참조 방지, depth×16px+4px 들여쓰기</a:t>
            </a:r>
            <a:endParaRPr lang="en-US" sz="620" dirty="0"/>
          </a:p>
        </p:txBody>
      </p:sp>
      <p:sp>
        <p:nvSpPr>
          <p:cNvPr id="32" name="Text 29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SKN21-Final Team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SC-02-003 (1/2)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화면명 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북마크 트리 - URL 항목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경로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&gt; 북마크 트리 &gt; URL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663440" cy="3977640"/>
          </a:xfrm>
          <a:prstGeom prst="rect">
            <a:avLst/>
          </a:prstGeom>
          <a:solidFill>
            <a:srgbClr val="F8F9F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img_url_li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14400"/>
            <a:ext cx="466344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868680"/>
            <a:ext cx="3749040" cy="256032"/>
          </a:xfrm>
          <a:prstGeom prst="rect">
            <a:avLst/>
          </a:prstGeom>
          <a:solidFill>
            <a:srgbClr val="2D35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02936" y="1170432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9" name="Text 6"/>
          <p:cNvSpPr/>
          <p:nvPr/>
        </p:nvSpPr>
        <p:spPr>
          <a:xfrm>
            <a:off x="5202936" y="11704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413248" y="116128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체크박스 / 파비콘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458968" y="1325880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개별 선택, Google Favicon API (16×16px)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5202936" y="1453896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3" name="Text 10"/>
          <p:cNvSpPr/>
          <p:nvPr/>
        </p:nvSpPr>
        <p:spPr>
          <a:xfrm>
            <a:off x="5202936" y="145389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413248" y="144475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북마크 제목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458968" y="1609344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클릭: 새 탭, Ctrl+클릭: 백그라운드 탭, 말줄임(...)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5202936" y="1737360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7" name="Text 14"/>
          <p:cNvSpPr/>
          <p:nvPr/>
        </p:nvSpPr>
        <p:spPr>
          <a:xfrm>
            <a:off x="5202936" y="173736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413248" y="172821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 뱃지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458968" y="1892808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#태그명, 호버 시 숨김→편집/삭제 버튼 표시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5202936" y="2020824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1" name="Text 18"/>
          <p:cNvSpPr/>
          <p:nvPr/>
        </p:nvSpPr>
        <p:spPr>
          <a:xfrm>
            <a:off x="5202936" y="202082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5413248" y="201168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호버 액션: ✏ / 🗑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458968" y="217627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✏: 북마크 편집 미니카드 (220px, Z:50)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5458968" y="2276856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🗑: 삭제 확인 드로어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5202936" y="2404872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6" name="Text 23"/>
          <p:cNvSpPr/>
          <p:nvPr/>
        </p:nvSpPr>
        <p:spPr>
          <a:xfrm>
            <a:off x="5202936" y="240487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5413248" y="239572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북마크 편집 카드 (SC-02-009)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458968" y="2560320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제목/URL/폴더 수정, 폴더 변경 시 이동 처리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5166360" y="3291840"/>
            <a:ext cx="3749040" cy="201168"/>
          </a:xfrm>
          <a:prstGeom prst="rect">
            <a:avLst/>
          </a:prstGeom>
          <a:solidFill>
            <a:srgbClr val="E85D5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Point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221224" y="3520440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항목 / 편집 카드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257800" y="3666744"/>
            <a:ext cx="3584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높이 28px, 들여쓰기 (depth×16px)+20px</a:t>
            </a:r>
            <a:endParaRPr lang="en-US" sz="620" dirty="0"/>
          </a:p>
        </p:txBody>
      </p:sp>
      <p:sp>
        <p:nvSpPr>
          <p:cNvPr id="32" name="Text 29"/>
          <p:cNvSpPr/>
          <p:nvPr/>
        </p:nvSpPr>
        <p:spPr>
          <a:xfrm>
            <a:off x="5257800" y="3758184"/>
            <a:ext cx="3584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편집 카드: 하단 56px 위, 배경 클릭 시 닫힘</a:t>
            </a:r>
            <a:endParaRPr lang="en-US" sz="620" dirty="0"/>
          </a:p>
        </p:txBody>
      </p:sp>
      <p:sp>
        <p:nvSpPr>
          <p:cNvPr id="33" name="Text 3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SKN21-Final Team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SC-02-003 (2/2)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화면명 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액션바 - 선택 모드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경로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&gt; 액션바 &gt; 항목 선택 시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663440" cy="3977640"/>
          </a:xfrm>
          <a:prstGeom prst="rect">
            <a:avLst/>
          </a:prstGeom>
          <a:solidFill>
            <a:srgbClr val="F8F9F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img_select_mod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14400"/>
            <a:ext cx="466344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868680"/>
            <a:ext cx="3749040" cy="256032"/>
          </a:xfrm>
          <a:prstGeom prst="rect">
            <a:avLst/>
          </a:prstGeom>
          <a:solidFill>
            <a:srgbClr val="2D35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02936" y="1170432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9" name="Text 6"/>
          <p:cNvSpPr/>
          <p:nvPr/>
        </p:nvSpPr>
        <p:spPr>
          <a:xfrm>
            <a:off x="5202936" y="1170432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413248" y="116128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선택 버튼 (☑)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58968" y="1344168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클릭 시 모든 항목 선택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202936" y="1508760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3" name="Text 10"/>
          <p:cNvSpPr/>
          <p:nvPr/>
        </p:nvSpPr>
        <p:spPr>
          <a:xfrm>
            <a:off x="5202936" y="1508760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413248" y="149961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항목 수 뱃지 + 해제 (X)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58968" y="1682496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"{N}개" 표시, 클릭 시 전체 해제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02936" y="1847088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7" name="Text 14"/>
          <p:cNvSpPr/>
          <p:nvPr/>
        </p:nvSpPr>
        <p:spPr>
          <a:xfrm>
            <a:off x="5202936" y="184708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413248" y="183794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항목 삭제 (🗑)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58968" y="2020824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danger 스타일, 삭제 확인 드로어 → 일괄 삭제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202936" y="2185416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1" name="Text 18"/>
          <p:cNvSpPr/>
          <p:nvPr/>
        </p:nvSpPr>
        <p:spPr>
          <a:xfrm>
            <a:off x="5202936" y="218541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5413248" y="217627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액션 버튼들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58968" y="235915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⚡빠른저장, 📌현재탭, 📁폴더, 🔗URL추가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166360" y="3291840"/>
            <a:ext cx="3749040" cy="201168"/>
          </a:xfrm>
          <a:prstGeom prst="rect">
            <a:avLst/>
          </a:prstGeom>
          <a:solidFill>
            <a:srgbClr val="E85D5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Point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221224" y="3520440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액션바 / 선택 모드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257800" y="3666744"/>
            <a:ext cx="3584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높이 48px, 1개 이상 선택 시 좌측 선택 모드 전환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257800" y="3776472"/>
            <a:ext cx="3584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빠른저장: 폴더 설정 후 1클릭 즉시 저장, 우클릭 변경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SKN21-Final Team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SC-02-004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화면명 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생성 폼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경로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&gt; 액션바 &gt; 📁 폴더 클릭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663440" cy="3977640"/>
          </a:xfrm>
          <a:prstGeom prst="rect">
            <a:avLst/>
          </a:prstGeom>
          <a:solidFill>
            <a:srgbClr val="F8F9F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img_new_fold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14400"/>
            <a:ext cx="466344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868680"/>
            <a:ext cx="3749040" cy="256032"/>
          </a:xfrm>
          <a:prstGeom prst="rect">
            <a:avLst/>
          </a:prstGeom>
          <a:solidFill>
            <a:srgbClr val="2D35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02936" y="1170432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9" name="Text 6"/>
          <p:cNvSpPr/>
          <p:nvPr/>
        </p:nvSpPr>
        <p:spPr>
          <a:xfrm>
            <a:off x="5202936" y="1170432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413248" y="116128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 헤더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58968" y="1344168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"📁 새 폴더" 제목, 닫기(X)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202936" y="1508760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3" name="Text 10"/>
          <p:cNvSpPr/>
          <p:nvPr/>
        </p:nvSpPr>
        <p:spPr>
          <a:xfrm>
            <a:off x="5202936" y="1508760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413248" y="149961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입력 필드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58968" y="1682496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라벨: "이름", AutoFocus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02936" y="1847088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7" name="Text 14"/>
          <p:cNvSpPr/>
          <p:nvPr/>
        </p:nvSpPr>
        <p:spPr>
          <a:xfrm>
            <a:off x="5202936" y="184708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413248" y="183794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선택 드롭다운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58968" y="2020824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계층 구조(└ 들여쓰기)로 폴더 표시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202936" y="2185416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1" name="Text 18"/>
          <p:cNvSpPr/>
          <p:nvPr/>
        </p:nvSpPr>
        <p:spPr>
          <a:xfrm>
            <a:off x="5202936" y="218541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5413248" y="217627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 / 생성 버튼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58968" y="235915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생성 성공 시 트리 새로고침 + 폼 닫기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166360" y="3291840"/>
            <a:ext cx="3749040" cy="201168"/>
          </a:xfrm>
          <a:prstGeom prst="rect">
            <a:avLst/>
          </a:prstGeom>
          <a:solidFill>
            <a:srgbClr val="E85D5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Point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221224" y="3520440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 동작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257800" y="3666744"/>
            <a:ext cx="3584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슬라이드 업 애니메이션, 트리 높이 자동 축소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257800" y="3776472"/>
            <a:ext cx="3584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Enter: 생성 / Escape: 닫기, 이전 폼 자동 닫힘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SKN21-Final Team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SC-02-005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화면명 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탭 저장 폼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경로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&gt; 액션바 &gt; 📌 현재탭 클릭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663440" cy="3977640"/>
          </a:xfrm>
          <a:prstGeom prst="rect">
            <a:avLst/>
          </a:prstGeom>
          <a:solidFill>
            <a:srgbClr val="F8F9F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img_save_tab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14400"/>
            <a:ext cx="466344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868680"/>
            <a:ext cx="3749040" cy="256032"/>
          </a:xfrm>
          <a:prstGeom prst="rect">
            <a:avLst/>
          </a:prstGeom>
          <a:solidFill>
            <a:srgbClr val="2D35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02936" y="1170432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9" name="Text 6"/>
          <p:cNvSpPr/>
          <p:nvPr/>
        </p:nvSpPr>
        <p:spPr>
          <a:xfrm>
            <a:off x="5202936" y="1170432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413248" y="116128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탭 미리보기 영역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58968" y="1344168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파비콘 + URL, Chrome API 자동 획득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202936" y="1508760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3" name="Text 10"/>
          <p:cNvSpPr/>
          <p:nvPr/>
        </p:nvSpPr>
        <p:spPr>
          <a:xfrm>
            <a:off x="5202936" y="1508760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413248" y="149961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 입력 필드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58968" y="1682496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초기값: 현재 탭 title, AutoFocus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02936" y="1847088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7" name="Text 14"/>
          <p:cNvSpPr/>
          <p:nvPr/>
        </p:nvSpPr>
        <p:spPr>
          <a:xfrm>
            <a:off x="5202936" y="184708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413248" y="183794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선택 드롭다운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58968" y="2020824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계층 구조, 초기값: 첫 번째 폴더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202936" y="2185416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1" name="Text 18"/>
          <p:cNvSpPr/>
          <p:nvPr/>
        </p:nvSpPr>
        <p:spPr>
          <a:xfrm>
            <a:off x="5202936" y="218541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5413248" y="217627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 / 저장 버튼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58968" y="235915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저장 성공 시 트리 새로고침 + 폼 닫기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166360" y="3291840"/>
            <a:ext cx="3749040" cy="201168"/>
          </a:xfrm>
          <a:prstGeom prst="rect">
            <a:avLst/>
          </a:prstGeom>
          <a:solidFill>
            <a:srgbClr val="E85D5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Point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221224" y="3520440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탭 정보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257800" y="3666744"/>
            <a:ext cx="3584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chrome.tabs.query로 title, url, favIconUrl 자동 획득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257800" y="3776472"/>
            <a:ext cx="3584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localStorage에 임시 저장, 완료 시 삭제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SKN21-Final Team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SC-02-006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화면명 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빠른저장 설정 폼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경로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&gt; 액션바 &gt; ⚡ 빠른저장 클릭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663440" cy="3977640"/>
          </a:xfrm>
          <a:prstGeom prst="rect">
            <a:avLst/>
          </a:prstGeom>
          <a:solidFill>
            <a:srgbClr val="F8F9F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img_quicksav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14400"/>
            <a:ext cx="466344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868680"/>
            <a:ext cx="3749040" cy="256032"/>
          </a:xfrm>
          <a:prstGeom prst="rect">
            <a:avLst/>
          </a:prstGeom>
          <a:solidFill>
            <a:srgbClr val="2D35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02936" y="1170432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9" name="Text 6"/>
          <p:cNvSpPr/>
          <p:nvPr/>
        </p:nvSpPr>
        <p:spPr>
          <a:xfrm>
            <a:off x="5202936" y="1170432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413248" y="116128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폴더 드롭다운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58968" y="1344168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계층 구조로 폴더 표시, 기본 폴더 선택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202936" y="1508760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3" name="Text 10"/>
          <p:cNvSpPr/>
          <p:nvPr/>
        </p:nvSpPr>
        <p:spPr>
          <a:xfrm>
            <a:off x="5202936" y="1508760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413248" y="149961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 / 해제 / 설정 버튼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58968" y="1682496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해제: 폴더 설정된 경우에만 표시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458968" y="1801368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설정: localStorage에 영구 저장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166360" y="3291840"/>
            <a:ext cx="3749040" cy="201168"/>
          </a:xfrm>
          <a:prstGeom prst="rect">
            <a:avLst/>
          </a:prstGeom>
          <a:solidFill>
            <a:srgbClr val="E85D5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Point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221224" y="3520440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빠른저장 기능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257800" y="3666744"/>
            <a:ext cx="3584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폴더 설정 후 ⚡ 1클릭 즉시 저장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257800" y="3776472"/>
            <a:ext cx="3584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우클릭으로 설정 변경 가능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SKN21-Final Team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SC-02-008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화면명 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동기화 (Settings)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경로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&gt; 헤더 &gt; ☁️ 동기화 클릭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663440" cy="3977640"/>
          </a:xfrm>
          <a:prstGeom prst="rect">
            <a:avLst/>
          </a:prstGeom>
          <a:solidFill>
            <a:srgbClr val="F8F9F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img_sync_setting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14400"/>
            <a:ext cx="466344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868680"/>
            <a:ext cx="3749040" cy="256032"/>
          </a:xfrm>
          <a:prstGeom prst="rect">
            <a:avLst/>
          </a:prstGeom>
          <a:solidFill>
            <a:srgbClr val="2D35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02936" y="1170432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9" name="Text 6"/>
          <p:cNvSpPr/>
          <p:nvPr/>
        </p:nvSpPr>
        <p:spPr>
          <a:xfrm>
            <a:off x="5202936" y="11704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413248" y="116128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패널 헤더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458968" y="1325880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"☁️ Notebook으로 동기화" + 닫기(X)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5202936" y="1453896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3" name="Text 10"/>
          <p:cNvSpPr/>
          <p:nvPr/>
        </p:nvSpPr>
        <p:spPr>
          <a:xfrm>
            <a:off x="5202936" y="145389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413248" y="144475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Key 입력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458968" y="1609344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password 타입, Eye 토글, 동기화 중 비활성화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5202936" y="1737360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7" name="Text 14"/>
          <p:cNvSpPr/>
          <p:nvPr/>
        </p:nvSpPr>
        <p:spPr>
          <a:xfrm>
            <a:off x="5202936" y="173736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413248" y="172821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요약 박스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458968" y="1892808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폴더 {N}개 뱃지, 북마크 수, 미선택 시 안내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5202936" y="2020824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1" name="Text 18"/>
          <p:cNvSpPr/>
          <p:nvPr/>
        </p:nvSpPr>
        <p:spPr>
          <a:xfrm>
            <a:off x="5202936" y="202082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5413248" y="201168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버튼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458968" y="217627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Key + 폴더 필수, 최초 시 개인정보 동의 드로어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5202936" y="2304288"/>
            <a:ext cx="155448" cy="15544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5" name="Text 22"/>
          <p:cNvSpPr/>
          <p:nvPr/>
        </p:nvSpPr>
        <p:spPr>
          <a:xfrm>
            <a:off x="5202936" y="23042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5413248" y="229514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동기화 결과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458968" y="2459736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성공: ✓ 초록, 실패: ⚠️ 빨강, 프로그레스 바 4px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5166360" y="3291840"/>
            <a:ext cx="3749040" cy="201168"/>
          </a:xfrm>
          <a:prstGeom prst="rect">
            <a:avLst/>
          </a:prstGeom>
          <a:solidFill>
            <a:srgbClr val="E85D5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Point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221224" y="3520440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동기화 전제 조건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257800" y="3666744"/>
            <a:ext cx="3584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Sync Key 필수 (Kalpie 노트북에서 발급)</a:t>
            </a:r>
            <a:endParaRPr lang="en-US" sz="620" dirty="0"/>
          </a:p>
        </p:txBody>
      </p:sp>
      <p:sp>
        <p:nvSpPr>
          <p:cNvPr id="31" name="Text 28"/>
          <p:cNvSpPr/>
          <p:nvPr/>
        </p:nvSpPr>
        <p:spPr>
          <a:xfrm>
            <a:off x="5257800" y="3758184"/>
            <a:ext cx="3584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1개 이상 폴더 선택 필수, 두 조건 충족 시 활성화</a:t>
            </a:r>
            <a:endParaRPr lang="en-US" sz="620" dirty="0"/>
          </a:p>
        </p:txBody>
      </p:sp>
      <p:sp>
        <p:nvSpPr>
          <p:cNvPr id="32" name="Text 29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SKN21-Final Team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화면명 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삭제 확인 드로어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경로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&gt; (삭제 동작 시)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663440" cy="3977640"/>
          </a:xfrm>
          <a:prstGeom prst="rect">
            <a:avLst/>
          </a:prstGeom>
          <a:solidFill>
            <a:srgbClr val="F8F9F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img_delete_bookmar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14400"/>
            <a:ext cx="466344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868680"/>
            <a:ext cx="3749040" cy="256032"/>
          </a:xfrm>
          <a:prstGeom prst="rect">
            <a:avLst/>
          </a:prstGeom>
          <a:solidFill>
            <a:srgbClr val="2D35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02936" y="1170432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9" name="Text 6"/>
          <p:cNvSpPr/>
          <p:nvPr/>
        </p:nvSpPr>
        <p:spPr>
          <a:xfrm>
            <a:off x="5202936" y="1170432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413248" y="116128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 아이콘 + 드로어 제목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58968" y="1344168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AlertTriangle, "북마크 삭제" / "폴더 삭제"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202936" y="1508760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3" name="Text 10"/>
          <p:cNvSpPr/>
          <p:nvPr/>
        </p:nvSpPr>
        <p:spPr>
          <a:xfrm>
            <a:off x="5202936" y="1508760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413248" y="149961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 메시지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58968" y="1682496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삭제 대상 이름 + "되돌릴 수 없습니다" 안내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02936" y="1847088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7" name="Text 14"/>
          <p:cNvSpPr/>
          <p:nvPr/>
        </p:nvSpPr>
        <p:spPr>
          <a:xfrm>
            <a:off x="5202936" y="184708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413248" y="183794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 / 삭제 버튼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58968" y="2020824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삭제: danger 스타일 (빨간색 배경)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166360" y="3291840"/>
            <a:ext cx="3749040" cy="201168"/>
          </a:xfrm>
          <a:prstGeom prst="rect">
            <a:avLst/>
          </a:prstGeom>
          <a:solidFill>
            <a:srgbClr val="E85D5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Point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221224" y="3520440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삭제 확인 드로어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257800" y="3666744"/>
            <a:ext cx="3584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폴더/북마크/선택 항목 일괄 삭제에 사용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5257800" y="3776472"/>
            <a:ext cx="3584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오버레이 클릭 취소, drawer-rise 0.24s 애니메이션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SKN21-Final Team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SC-02-011 (1/2)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화면명 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삭제 확인 드로어 - 일괄 삭제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경로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&gt; 액션바 &gt; 🗑 선택 삭제    </a:t>
            </a:r>
            <a:r>
              <a:rPr lang="en-US" sz="900" b="1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ID  </a:t>
            </a: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663440" cy="3977640"/>
          </a:xfrm>
          <a:prstGeom prst="rect">
            <a:avLst/>
          </a:prstGeom>
          <a:solidFill>
            <a:srgbClr val="F8F9F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img_delete_selec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14400"/>
            <a:ext cx="466344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868680"/>
            <a:ext cx="3749040" cy="256032"/>
          </a:xfrm>
          <a:prstGeom prst="rect">
            <a:avLst/>
          </a:prstGeom>
          <a:solidFill>
            <a:srgbClr val="2D35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02936" y="1170432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9" name="Text 6"/>
          <p:cNvSpPr/>
          <p:nvPr/>
        </p:nvSpPr>
        <p:spPr>
          <a:xfrm>
            <a:off x="5202936" y="1170432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413248" y="116128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 아이콘 + "선택 항목 삭제"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58968" y="1344168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선택된 N개 항목 삭제 경고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202936" y="1508760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3" name="Text 10"/>
          <p:cNvSpPr/>
          <p:nvPr/>
        </p:nvSpPr>
        <p:spPr>
          <a:xfrm>
            <a:off x="5202936" y="1508760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413248" y="149961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 메시지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58968" y="1682496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"선택한 {N}개 항목을 삭제하시겠습니까?"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458968" y="1801368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"이 작업은 되돌릴 수 없습니다"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202936" y="1965960"/>
            <a:ext cx="173736" cy="17373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8" name="Text 15"/>
          <p:cNvSpPr/>
          <p:nvPr/>
        </p:nvSpPr>
        <p:spPr>
          <a:xfrm>
            <a:off x="5202936" y="1965960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413248" y="195681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 / 삭제 버튼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58968" y="2139696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삭제 시 선택된 모든 항목 일괄 제거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166360" y="3291840"/>
            <a:ext cx="3749040" cy="201168"/>
          </a:xfrm>
          <a:prstGeom prst="rect">
            <a:avLst/>
          </a:prstGeom>
          <a:solidFill>
            <a:srgbClr val="E85D5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Point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221224" y="3520440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일괄 삭제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257800" y="3666744"/>
            <a:ext cx="3584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액션바 🗑 버튼에서 호출 (선택 모드)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257800" y="3776472"/>
            <a:ext cx="3584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폴더 삭제 시 하위 항목 모두 포함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SKN21-Final Team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SC-02-011 (2/2)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2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화면 흐름도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8595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팝업 (400×580px)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371600" cy="411480"/>
          </a:xfrm>
          <a:prstGeom prst="rect">
            <a:avLst/>
          </a:prstGeom>
          <a:solidFill>
            <a:srgbClr val="1A1F3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371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헤더 영역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485900"/>
            <a:ext cx="182880" cy="182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11680" y="1371600"/>
            <a:ext cx="1371600" cy="411480"/>
          </a:xfrm>
          <a:prstGeom prst="rect">
            <a:avLst/>
          </a:prstGeom>
          <a:solidFill>
            <a:srgbClr val="2D3561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테마 토글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566160" y="1371600"/>
            <a:ext cx="1645920" cy="411480"/>
          </a:xfrm>
          <a:prstGeom prst="rect">
            <a:avLst/>
          </a:prstGeom>
          <a:solidFill>
            <a:srgbClr val="7C5CFC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6616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동기화 설정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389120" y="1783080"/>
            <a:ext cx="1371600" cy="0"/>
          </a:xfrm>
          <a:prstGeom prst="line">
            <a:avLst/>
          </a:prstGeom>
          <a:noFill/>
          <a:ln w="15240">
            <a:solidFill>
              <a:srgbClr val="9BA3B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0" y="1371600"/>
            <a:ext cx="1828800" cy="411480"/>
          </a:xfrm>
          <a:prstGeom prst="rect">
            <a:avLst/>
          </a:prstGeom>
          <a:solidFill>
            <a:srgbClr val="7C5CFC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6072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패널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(SC-02-010)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" y="1965960"/>
            <a:ext cx="1828800" cy="365760"/>
          </a:xfrm>
          <a:prstGeom prst="rect">
            <a:avLst/>
          </a:prstGeom>
          <a:solidFill>
            <a:srgbClr val="F8F9F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3152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검색바</a:t>
            </a:r>
            <a:endParaRPr lang="en-US" sz="8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057400"/>
            <a:ext cx="182880" cy="1828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468880" y="1965960"/>
            <a:ext cx="1097280" cy="365760"/>
          </a:xfrm>
          <a:prstGeom prst="rect">
            <a:avLst/>
          </a:prstGeom>
          <a:solidFill>
            <a:srgbClr val="F8F9F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2468880" y="1965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접기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749040" y="1965960"/>
            <a:ext cx="1097280" cy="365760"/>
          </a:xfrm>
          <a:prstGeom prst="rect">
            <a:avLst/>
          </a:prstGeom>
          <a:solidFill>
            <a:srgbClr val="F8F9F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3749040" y="1965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펼치기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57200" y="2514600"/>
            <a:ext cx="2286000" cy="457200"/>
          </a:xfrm>
          <a:prstGeom prst="rect">
            <a:avLst/>
          </a:prstGeom>
          <a:solidFill>
            <a:srgbClr val="F8F9F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73152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북마크 트리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(SC-02-003)</a:t>
            </a:r>
            <a:endParaRPr lang="en-US" sz="8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2651760"/>
            <a:ext cx="182880" cy="18288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2926080" y="2514600"/>
            <a:ext cx="12801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292608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클릭/편집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4389120" y="2514600"/>
            <a:ext cx="12801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438912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클릭/편집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5852160" y="2514600"/>
            <a:ext cx="118872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5852160" y="2514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드래그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앤 드롭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7223760" y="2514600"/>
            <a:ext cx="1371600" cy="457200"/>
          </a:xfrm>
          <a:prstGeom prst="rect">
            <a:avLst/>
          </a:prstGeom>
          <a:solidFill>
            <a:srgbClr val="E85D5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722376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삭제 확인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(SC-02-011)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457200" y="3200400"/>
            <a:ext cx="1828800" cy="411480"/>
          </a:xfrm>
          <a:prstGeom prst="rect">
            <a:avLst/>
          </a:prstGeom>
          <a:solidFill>
            <a:srgbClr val="F8F9F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731520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액션바 (SC-02-004)</a:t>
            </a:r>
            <a:endParaRPr lang="en-US" sz="8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3314700"/>
            <a:ext cx="182880" cy="182880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2468880" y="3200400"/>
            <a:ext cx="12801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2"/>
          <p:cNvSpPr/>
          <p:nvPr/>
        </p:nvSpPr>
        <p:spPr>
          <a:xfrm>
            <a:off x="2468880" y="3200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빠른저장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(SC-02-008)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3931920" y="3200400"/>
            <a:ext cx="12801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3931920" y="3200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현재탭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(SC-02-006)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5394960" y="3200400"/>
            <a:ext cx="11887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36"/>
          <p:cNvSpPr/>
          <p:nvPr/>
        </p:nvSpPr>
        <p:spPr>
          <a:xfrm>
            <a:off x="5394960" y="3200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폴더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(SC-02-005)</a:t>
            </a:r>
            <a:endParaRPr lang="en-US" sz="800" dirty="0"/>
          </a:p>
        </p:txBody>
      </p:sp>
      <p:sp>
        <p:nvSpPr>
          <p:cNvPr id="43" name="Shape 37"/>
          <p:cNvSpPr/>
          <p:nvPr/>
        </p:nvSpPr>
        <p:spPr>
          <a:xfrm>
            <a:off x="6766560" y="3200400"/>
            <a:ext cx="11887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Text 38"/>
          <p:cNvSpPr/>
          <p:nvPr/>
        </p:nvSpPr>
        <p:spPr>
          <a:xfrm>
            <a:off x="6766560" y="3200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URL추가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3200400" y="3840480"/>
            <a:ext cx="22860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40"/>
          <p:cNvSpPr/>
          <p:nvPr/>
        </p:nvSpPr>
        <p:spPr>
          <a:xfrm>
            <a:off x="3474720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북마크 편집 카드 (SC-02-009)</a:t>
            </a:r>
            <a:endParaRPr lang="en-US" sz="800" dirty="0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5264" y="3954780"/>
            <a:ext cx="182880" cy="182880"/>
          </a:xfrm>
          <a:prstGeom prst="rect">
            <a:avLst/>
          </a:prstGeom>
        </p:spPr>
      </p:pic>
      <p:sp>
        <p:nvSpPr>
          <p:cNvPr id="48" name="Shape 41"/>
          <p:cNvSpPr/>
          <p:nvPr/>
        </p:nvSpPr>
        <p:spPr>
          <a:xfrm>
            <a:off x="1828800" y="2148840"/>
            <a:ext cx="640080" cy="0"/>
          </a:xfrm>
          <a:prstGeom prst="line">
            <a:avLst/>
          </a:prstGeom>
          <a:noFill/>
          <a:ln w="15240">
            <a:solidFill>
              <a:srgbClr val="9BA3BF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SKN21-Final Team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1340</Words>
  <Application>Microsoft Office PowerPoint</Application>
  <PresentationFormat>화면 슬라이드 쇼(16:9)</PresentationFormat>
  <Paragraphs>301</Paragraphs>
  <Slides>13</Slides>
  <Notes>13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Bookalpie (Extension) 화면설계서</dc:title>
  <dc:subject>PptxGenJS Presentation</dc:subject>
  <dc:creator>SKN21-Final Team</dc:creator>
  <cp:lastModifiedBy>자슈아주원 최</cp:lastModifiedBy>
  <cp:revision>5</cp:revision>
  <dcterms:created xsi:type="dcterms:W3CDTF">2026-03-23T02:07:26Z</dcterms:created>
  <dcterms:modified xsi:type="dcterms:W3CDTF">2026-03-23T08:24:03Z</dcterms:modified>
</cp:coreProperties>
</file>